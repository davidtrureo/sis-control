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Play"/>
      <p:regular r:id="rId21"/>
      <p:bold r:id="rId22"/>
    </p:embeddedFont>
    <p:embeddedFont>
      <p:font typeface="Roboto Thin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Roboto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VcGrQdzgomp/2okHe8Bufgt5Hk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9" name="CATALINA SOLANGE LEAL RODRIGUE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-bold.fntdata"/><Relationship Id="rId21" Type="http://schemas.openxmlformats.org/officeDocument/2006/relationships/font" Target="fonts/Play-regular.fntdata"/><Relationship Id="rId24" Type="http://schemas.openxmlformats.org/officeDocument/2006/relationships/font" Target="fonts/RobotoThin-bold.fntdata"/><Relationship Id="rId23" Type="http://schemas.openxmlformats.org/officeDocument/2006/relationships/font" Target="fonts/RobotoThin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Thin-boldItalic.fntdata"/><Relationship Id="rId25" Type="http://schemas.openxmlformats.org/officeDocument/2006/relationships/font" Target="fonts/RobotoThin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edium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edium-italic.fntdata"/><Relationship Id="rId10" Type="http://schemas.openxmlformats.org/officeDocument/2006/relationships/slide" Target="slides/slide5.xml"/><Relationship Id="rId32" Type="http://schemas.openxmlformats.org/officeDocument/2006/relationships/font" Target="fonts/RobotoMedium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Roboto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3-27T01:34:48.737">
    <p:pos x="6000" y="0"/>
    <p:text>Freddy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lGhtCU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3-27T01:34:54.450">
    <p:pos x="6000" y="0"/>
    <p:text>Freddy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lGhtCY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3-27T01:35:06.163">
    <p:pos x="6000" y="0"/>
    <p:text>Freddy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lGhtCc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3-27T01:35:24.073">
    <p:pos x="6000" y="0"/>
    <p:text>Freddy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lGhtCg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3-27T01:35:51.399">
    <p:pos x="6000" y="0"/>
    <p:text>Vito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lGhtCo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03-27T01:36:02.681">
    <p:pos x="6000" y="0"/>
    <p:text>Benja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lGhtCs"/>
      </p:ext>
    </p:extLst>
  </p:cm>
  <p:cm authorId="0" idx="7" dt="2026-03-25T23:19:44.213">
    <p:pos x="6000" y="100"/>
    <p:text>Etapas
Levantamiento: análisis del problema, definición de requerimientos y
casos de uso.
Diseño: arquitectura (app móvil, backend, base de datos, NFC) y
diagramas.
Desarrollo: implementación progresiva de funcionalidades.
Pruebas: validación continua de funcionamiento, integración y
usabilidad.Resultado Entrega de un sistema
funcional, probado y de alta confiabilidad.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4NkgxuA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03-27T01:36:09.343">
    <p:pos x="6000" y="0"/>
    <p:text>cata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lGhtCw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6-03-27T01:36:22.600">
    <p:pos x="6000" y="0"/>
    <p:text>Vito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lGhtC0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67f21d644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67f21d644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67f21d644_0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967f21d644_0_7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9053" y="1796807"/>
            <a:ext cx="70965" cy="3264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7"/>
          <p:cNvSpPr/>
          <p:nvPr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7"/>
          <p:cNvSpPr/>
          <p:nvPr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7"/>
          <p:cNvCxnSpPr/>
          <p:nvPr/>
        </p:nvCxnSpPr>
        <p:spPr>
          <a:xfrm>
            <a:off x="6996223" y="4106486"/>
            <a:ext cx="4114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" name="Google Shape;16;p17"/>
          <p:cNvSpPr txBox="1"/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8812" y="1206961"/>
            <a:ext cx="3375906" cy="542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1">
  <p:cSld name="INTERIOR 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2" type="body"/>
          </p:nvPr>
        </p:nvSpPr>
        <p:spPr>
          <a:xfrm>
            <a:off x="640715" y="1137571"/>
            <a:ext cx="4930746" cy="553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8"/>
          <p:cNvSpPr/>
          <p:nvPr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18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24" name="Google Shape;24;p18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8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" name="Google Shape;26;p18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27" name="Google Shape;27;p18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" name="Google Shape;28;p18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9" name="Google Shape;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714468" y="4342374"/>
            <a:ext cx="119408" cy="423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1">
  <p:cSld name="PORTADA interio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9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9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2">
  <p:cSld name="PORTADA interio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0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2">
  <p:cSld name="INTERIOR 2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/>
          <p:nvPr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1"/>
          <p:cNvSpPr/>
          <p:nvPr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5400000">
            <a:off x="10929134" y="3487483"/>
            <a:ext cx="2392160" cy="13357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1"/>
          <p:cNvSpPr txBox="1"/>
          <p:nvPr>
            <p:ph type="title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" type="body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6" name="Google Shape;46;p21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47" name="Google Shape;47;p21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1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" name="Google Shape;49;p21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50" name="Google Shape;50;p21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1" name="Google Shape;51;p2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2" name="Google Shape;5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414" y="1315256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4">
  <p:cSld name="PORTADA interior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2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2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3">
  <p:cSld name="INTERIOR 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/>
          <p:nvPr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3"/>
          <p:cNvSpPr/>
          <p:nvPr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3"/>
          <p:cNvSpPr txBox="1"/>
          <p:nvPr>
            <p:ph idx="1" type="body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2" type="body"/>
          </p:nvPr>
        </p:nvSpPr>
        <p:spPr>
          <a:xfrm>
            <a:off x="6510853" y="976146"/>
            <a:ext cx="4930746" cy="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3"/>
          <p:cNvSpPr/>
          <p:nvPr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23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65" name="Google Shape;65;p23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3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" name="Google Shape;67;p23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68" name="Google Shape;68;p23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9" name="Google Shape;69;p23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70" name="Google Shape;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92" y="2244940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3">
  <p:cSld name="PORTADA interior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4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4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PA FINAL">
  <p:cSld name="TAPA FINAL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" name="Google Shape;78;p25"/>
          <p:cNvGrpSpPr/>
          <p:nvPr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79" name="Google Shape;79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1" name="Google Shape;8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7179" y="2291644"/>
            <a:ext cx="3997641" cy="129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3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4.xml"/><Relationship Id="rId4" Type="http://schemas.openxmlformats.org/officeDocument/2006/relationships/image" Target="../media/image19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5.xml"/><Relationship Id="rId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6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7.xml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8.xml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title"/>
          </p:nvPr>
        </p:nvSpPr>
        <p:spPr>
          <a:xfrm>
            <a:off x="6904967" y="2645748"/>
            <a:ext cx="43779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MX" sz="3200"/>
              <a:t>Sistema de control de rondas de seguridad</a:t>
            </a:r>
            <a:endParaRPr sz="3200"/>
          </a:p>
        </p:txBody>
      </p:sp>
      <p:sp>
        <p:nvSpPr>
          <p:cNvPr id="87" name="Google Shape;87;p1"/>
          <p:cNvSpPr txBox="1"/>
          <p:nvPr/>
        </p:nvSpPr>
        <p:spPr>
          <a:xfrm>
            <a:off x="7076717" y="4240100"/>
            <a:ext cx="403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SIS Control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995417" y="5629324"/>
            <a:ext cx="419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lt1"/>
                </a:solidFill>
              </a:rPr>
              <a:t>Grupo 4</a:t>
            </a:r>
            <a:endParaRPr b="1" sz="12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lt1"/>
                </a:solidFill>
              </a:rPr>
              <a:t>Taller Aplicado de Programación 004V</a:t>
            </a:r>
            <a:endParaRPr b="1" sz="12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lt1"/>
                </a:solidFill>
              </a:rPr>
              <a:t>Profesor: Félix Cifuentes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Arial"/>
                <a:ea typeface="Arial"/>
                <a:cs typeface="Arial"/>
                <a:sym typeface="Arial"/>
              </a:rPr>
              <a:t>Índice / agenda</a:t>
            </a:r>
            <a:endParaRPr/>
          </a:p>
        </p:txBody>
      </p:sp>
      <p:sp>
        <p:nvSpPr>
          <p:cNvPr id="94" name="Google Shape;94;p2"/>
          <p:cNvSpPr txBox="1"/>
          <p:nvPr>
            <p:ph idx="2" type="body"/>
          </p:nvPr>
        </p:nvSpPr>
        <p:spPr>
          <a:xfrm>
            <a:off x="654665" y="1422720"/>
            <a:ext cx="6555900" cy="3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latin typeface="Arial"/>
                <a:ea typeface="Arial"/>
                <a:cs typeface="Arial"/>
                <a:sym typeface="Arial"/>
              </a:rPr>
              <a:t>1. Integrantes del grupo.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2800">
                <a:latin typeface="Arial"/>
                <a:ea typeface="Arial"/>
                <a:cs typeface="Arial"/>
                <a:sym typeface="Arial"/>
              </a:rPr>
              <a:t>2. Descripción del proyecto.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2800">
                <a:latin typeface="Arial"/>
                <a:ea typeface="Arial"/>
                <a:cs typeface="Arial"/>
                <a:sym typeface="Arial"/>
              </a:rPr>
              <a:t>3. Contexto del proyecto.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2800">
                <a:latin typeface="Arial"/>
                <a:ea typeface="Arial"/>
                <a:cs typeface="Arial"/>
                <a:sym typeface="Arial"/>
              </a:rPr>
              <a:t>4. Metodología.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2800">
                <a:latin typeface="Arial"/>
                <a:ea typeface="Arial"/>
                <a:cs typeface="Arial"/>
                <a:sym typeface="Arial"/>
              </a:rPr>
              <a:t>5. Descripción técnica de la solución.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2800">
                <a:latin typeface="Arial"/>
                <a:ea typeface="Arial"/>
                <a:cs typeface="Arial"/>
                <a:sym typeface="Arial"/>
              </a:rPr>
              <a:t>6. Documentación.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019075" y="2752725"/>
            <a:ext cx="35268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7965" lvl="0" marL="22796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s-MX">
                <a:latin typeface="Arial"/>
                <a:ea typeface="Arial"/>
                <a:cs typeface="Arial"/>
                <a:sym typeface="Arial"/>
              </a:rPr>
              <a:t>Integrantes del grupo</a:t>
            </a:r>
            <a:endParaRPr sz="4000"/>
          </a:p>
        </p:txBody>
      </p:sp>
      <p:sp>
        <p:nvSpPr>
          <p:cNvPr id="100" name="Google Shape;100;p3"/>
          <p:cNvSpPr txBox="1"/>
          <p:nvPr/>
        </p:nvSpPr>
        <p:spPr>
          <a:xfrm>
            <a:off x="-1" y="2740341"/>
            <a:ext cx="1459800" cy="13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MX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654685" y="551041"/>
            <a:ext cx="5872724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rgbClr val="0942A1"/>
                </a:solidFill>
              </a:rPr>
              <a:t>Integrantes del grupo</a:t>
            </a:r>
            <a:endParaRPr>
              <a:solidFill>
                <a:srgbClr val="0942A1"/>
              </a:solidFill>
            </a:endParaRPr>
          </a:p>
        </p:txBody>
      </p:sp>
      <p:sp>
        <p:nvSpPr>
          <p:cNvPr id="106" name="Google Shape;106;p4"/>
          <p:cNvSpPr txBox="1"/>
          <p:nvPr>
            <p:ph idx="2" type="body"/>
          </p:nvPr>
        </p:nvSpPr>
        <p:spPr>
          <a:xfrm>
            <a:off x="501900" y="1505763"/>
            <a:ext cx="2770500" cy="19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C4587"/>
              </a:buClr>
              <a:buSzPts val="1800"/>
              <a:buChar char="•"/>
            </a:pPr>
            <a:r>
              <a:rPr lang="es-MX" sz="1800">
                <a:solidFill>
                  <a:srgbClr val="1C4587"/>
                </a:solidFill>
              </a:rPr>
              <a:t>Freddy Sepúlveda</a:t>
            </a:r>
            <a:endParaRPr sz="1800">
              <a:solidFill>
                <a:srgbClr val="1C4587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Char char="•"/>
            </a:pPr>
            <a:r>
              <a:rPr i="0" lang="es-MX" sz="1800" u="none" strike="noStrike">
                <a:solidFill>
                  <a:srgbClr val="1C4587"/>
                </a:solidFill>
              </a:rPr>
              <a:t>Benjam</a:t>
            </a:r>
            <a:r>
              <a:rPr lang="es-MX" sz="1800">
                <a:solidFill>
                  <a:srgbClr val="1C4587"/>
                </a:solidFill>
              </a:rPr>
              <a:t>í</a:t>
            </a:r>
            <a:r>
              <a:rPr i="0" lang="es-MX" sz="1800" u="none" strike="noStrike">
                <a:solidFill>
                  <a:srgbClr val="1C4587"/>
                </a:solidFill>
              </a:rPr>
              <a:t>n Burgos</a:t>
            </a:r>
            <a:endParaRPr sz="1800">
              <a:solidFill>
                <a:srgbClr val="1C4587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Char char="•"/>
            </a:pPr>
            <a:r>
              <a:rPr i="0" lang="es-MX" sz="1800" u="none" strike="noStrike">
                <a:solidFill>
                  <a:srgbClr val="1C4587"/>
                </a:solidFill>
              </a:rPr>
              <a:t>David Trureo</a:t>
            </a:r>
            <a:endParaRPr sz="1800">
              <a:solidFill>
                <a:srgbClr val="1C4587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Char char="•"/>
            </a:pPr>
            <a:r>
              <a:rPr i="0" lang="es-MX" sz="1800" u="none" strike="noStrike">
                <a:solidFill>
                  <a:srgbClr val="1C4587"/>
                </a:solidFill>
              </a:rPr>
              <a:t>Catalina Leal</a:t>
            </a:r>
            <a:endParaRPr sz="1800">
              <a:solidFill>
                <a:srgbClr val="1C4587"/>
              </a:solidFill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676726" y="1545738"/>
            <a:ext cx="2224500" cy="918300"/>
          </a:xfrm>
          <a:prstGeom prst="roundRect">
            <a:avLst>
              <a:gd fmla="val 50000" name="adj"/>
            </a:avLst>
          </a:prstGeom>
          <a:solidFill>
            <a:srgbClr val="0942A1"/>
          </a:solidFill>
          <a:ln>
            <a:noFill/>
          </a:ln>
          <a:effectLst>
            <a:outerShdw blurRad="142875" rotWithShape="0" algn="bl" dir="3600000" dist="57150">
              <a:srgbClr val="0942A1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Freddy Sepúlveda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Scrum Master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Desarrollador mobile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083588" y="3073456"/>
            <a:ext cx="2050800" cy="590100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  <a:effectLst>
            <a:outerShdw blurRad="142875" rotWithShape="0" algn="bl" dir="3600000" dist="57150">
              <a:srgbClr val="0942A1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QA</a:t>
            </a:r>
            <a:endParaRPr sz="1900">
              <a:solidFill>
                <a:srgbClr val="FFFFFF"/>
              </a:solidFill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362796" y="3073456"/>
            <a:ext cx="2050800" cy="590100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  <a:effectLst>
            <a:outerShdw blurRad="142875" rotWithShape="0" algn="bl" dir="3600000" dist="57150">
              <a:srgbClr val="0942A1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Desarrollador</a:t>
            </a:r>
            <a:endParaRPr sz="1900">
              <a:solidFill>
                <a:srgbClr val="FFFFFF"/>
              </a:solidFill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083576" y="4486614"/>
            <a:ext cx="2050800" cy="7053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  <a:effectLst>
            <a:outerShdw blurRad="142875" rotWithShape="0" algn="bl" dir="3600000" dist="57150">
              <a:srgbClr val="0942A1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Catalina Leal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QA / Documentación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" name="Google Shape;111;p4"/>
          <p:cNvCxnSpPr>
            <a:stCxn id="107" idx="2"/>
            <a:endCxn id="108" idx="0"/>
          </p:cNvCxnSpPr>
          <p:nvPr/>
        </p:nvCxnSpPr>
        <p:spPr>
          <a:xfrm flipH="1" rot="-5400000">
            <a:off x="8644276" y="1608738"/>
            <a:ext cx="609300" cy="23199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4"/>
          <p:cNvCxnSpPr>
            <a:stCxn id="109" idx="0"/>
            <a:endCxn id="107" idx="2"/>
          </p:cNvCxnSpPr>
          <p:nvPr/>
        </p:nvCxnSpPr>
        <p:spPr>
          <a:xfrm rot="-5400000">
            <a:off x="6283996" y="1568356"/>
            <a:ext cx="609300" cy="24009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4"/>
          <p:cNvCxnSpPr>
            <a:stCxn id="108" idx="2"/>
            <a:endCxn id="110" idx="0"/>
          </p:cNvCxnSpPr>
          <p:nvPr/>
        </p:nvCxnSpPr>
        <p:spPr>
          <a:xfrm flipH="1" rot="-5400000">
            <a:off x="9697688" y="4074856"/>
            <a:ext cx="823200" cy="6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4"/>
          <p:cNvSpPr/>
          <p:nvPr/>
        </p:nvSpPr>
        <p:spPr>
          <a:xfrm>
            <a:off x="3172576" y="4273165"/>
            <a:ext cx="2050800" cy="9183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  <a:effectLst>
            <a:outerShdw blurRad="142875" rotWithShape="0" algn="bl" dir="3600000" dist="57150">
              <a:srgbClr val="0942A1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Benjamin Burgos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Desarrollador Backend / Base de datos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 flipH="1" rot="-5400000">
            <a:off x="5602246" y="3404906"/>
            <a:ext cx="609600" cy="1127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4"/>
          <p:cNvCxnSpPr/>
          <p:nvPr/>
        </p:nvCxnSpPr>
        <p:spPr>
          <a:xfrm rot="-5400000">
            <a:off x="4475251" y="3404808"/>
            <a:ext cx="609600" cy="11271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4"/>
          <p:cNvSpPr/>
          <p:nvPr/>
        </p:nvSpPr>
        <p:spPr>
          <a:xfrm>
            <a:off x="5553001" y="4273465"/>
            <a:ext cx="2050800" cy="9183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  <a:effectLst>
            <a:outerShdw blurRad="142875" rotWithShape="0" algn="bl" dir="3600000" dist="57150">
              <a:srgbClr val="0942A1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David Trureo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Desarrollador Backend / Base de datos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8339146" y="2731016"/>
            <a:ext cx="28059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7965" lvl="0" marL="22796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s-MX">
                <a:latin typeface="Arial"/>
                <a:ea typeface="Arial"/>
                <a:cs typeface="Arial"/>
                <a:sym typeface="Arial"/>
              </a:rPr>
              <a:t>Descripción del</a:t>
            </a:r>
            <a:endParaRPr/>
          </a:p>
          <a:p>
            <a:pPr indent="-227965" lvl="0" marL="22796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s-MX">
                <a:latin typeface="Arial"/>
                <a:ea typeface="Arial"/>
                <a:cs typeface="Arial"/>
                <a:sym typeface="Arial"/>
              </a:rPr>
              <a:t>proyecto</a:t>
            </a:r>
            <a:endParaRPr sz="4000"/>
          </a:p>
        </p:txBody>
      </p:sp>
      <p:sp>
        <p:nvSpPr>
          <p:cNvPr id="123" name="Google Shape;123;p5"/>
          <p:cNvSpPr txBox="1"/>
          <p:nvPr/>
        </p:nvSpPr>
        <p:spPr>
          <a:xfrm>
            <a:off x="1953225" y="3721975"/>
            <a:ext cx="625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-1" y="2752716"/>
            <a:ext cx="1459800" cy="13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MX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-MX" sz="8000">
                <a:solidFill>
                  <a:schemeClr val="lt1"/>
                </a:solidFill>
              </a:rPr>
              <a:t>2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567910" y="572741"/>
            <a:ext cx="58728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MX">
                <a:solidFill>
                  <a:srgbClr val="0942A1"/>
                </a:solidFill>
              </a:rPr>
              <a:t>Descripción del proyecto</a:t>
            </a:r>
            <a:endParaRPr>
              <a:solidFill>
                <a:srgbClr val="0942A1"/>
              </a:solidFill>
            </a:endParaRPr>
          </a:p>
        </p:txBody>
      </p:sp>
      <p:sp>
        <p:nvSpPr>
          <p:cNvPr id="130" name="Google Shape;130;p6"/>
          <p:cNvSpPr txBox="1"/>
          <p:nvPr>
            <p:ph idx="2" type="body"/>
          </p:nvPr>
        </p:nvSpPr>
        <p:spPr>
          <a:xfrm>
            <a:off x="632625" y="1422350"/>
            <a:ext cx="4687200" cy="453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MX" sz="1800"/>
              <a:t>Sistema que permite registrar, supervisar y controlar las rondas de guardias de seguridad mediante una app móvil Android, capturando en tiempo real ubicación, hora y checkpoints recorridos para asegurar el cumplimiento.</a:t>
            </a:r>
            <a:endParaRPr sz="1800"/>
          </a:p>
        </p:txBody>
      </p:sp>
      <p:sp>
        <p:nvSpPr>
          <p:cNvPr id="131" name="Google Shape;131;p6"/>
          <p:cNvSpPr txBox="1"/>
          <p:nvPr/>
        </p:nvSpPr>
        <p:spPr>
          <a:xfrm>
            <a:off x="7520211" y="2083132"/>
            <a:ext cx="28059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s-MX" sz="2800">
                <a:solidFill>
                  <a:srgbClr val="0942A1"/>
                </a:solidFill>
              </a:rPr>
              <a:t>Problemática</a:t>
            </a:r>
            <a:endParaRPr b="1" sz="2800">
              <a:solidFill>
                <a:srgbClr val="0942A1"/>
              </a:solidFill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6619761" y="4841865"/>
            <a:ext cx="4606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Falta de control confiable sobre el cumplimiento de las rondas de seguridad.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6" title="guardia image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7523" y="2820743"/>
            <a:ext cx="1711276" cy="171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6" title="Android_robot.png"/>
          <p:cNvPicPr preferRelativeResize="0"/>
          <p:nvPr/>
        </p:nvPicPr>
        <p:blipFill rotWithShape="1">
          <a:blip r:embed="rId5">
            <a:alphaModFix/>
          </a:blip>
          <a:srcRect b="760" l="0" r="0" t="-760"/>
          <a:stretch/>
        </p:blipFill>
        <p:spPr>
          <a:xfrm>
            <a:off x="2234438" y="3920730"/>
            <a:ext cx="1483569" cy="176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67f21d644_4_0"/>
          <p:cNvSpPr txBox="1"/>
          <p:nvPr>
            <p:ph type="title"/>
          </p:nvPr>
        </p:nvSpPr>
        <p:spPr>
          <a:xfrm>
            <a:off x="8458521" y="2752716"/>
            <a:ext cx="28059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MX" sz="3200">
                <a:latin typeface="Arial"/>
                <a:ea typeface="Arial"/>
                <a:cs typeface="Arial"/>
                <a:sym typeface="Arial"/>
              </a:rPr>
              <a:t>Contexto del proyecto</a:t>
            </a:r>
            <a:endParaRPr/>
          </a:p>
        </p:txBody>
      </p:sp>
      <p:sp>
        <p:nvSpPr>
          <p:cNvPr id="140" name="Google Shape;140;g3967f21d644_4_0"/>
          <p:cNvSpPr txBox="1"/>
          <p:nvPr/>
        </p:nvSpPr>
        <p:spPr>
          <a:xfrm>
            <a:off x="-1" y="2752716"/>
            <a:ext cx="1459800" cy="13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MX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-MX" sz="8000">
                <a:solidFill>
                  <a:schemeClr val="lt1"/>
                </a:solidFill>
              </a:rPr>
              <a:t>3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/>
        </p:nvSpPr>
        <p:spPr>
          <a:xfrm>
            <a:off x="4978831" y="408371"/>
            <a:ext cx="609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3200">
                <a:solidFill>
                  <a:srgbClr val="0942A1"/>
                </a:solidFill>
                <a:latin typeface="Arial"/>
                <a:ea typeface="Arial"/>
                <a:cs typeface="Arial"/>
                <a:sym typeface="Arial"/>
              </a:rPr>
              <a:t>Contexto del proyecto</a:t>
            </a:r>
            <a:endParaRPr b="1" sz="3200">
              <a:solidFill>
                <a:srgbClr val="0942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4978831" y="1340149"/>
            <a:ext cx="6455100" cy="448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Surge para mejorar el control de rondas de seguridad en organizaciones con múltiples sucursales, reemplazando métodos poco confiables que generan brechas de supervisión.</a:t>
            </a:r>
            <a:endParaRPr/>
          </a:p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Propuesta</a:t>
            </a:r>
            <a:br>
              <a:rPr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 móvil Android que registra rondas en tiempo real, validando hora y ubicación, y generando reportes confiables.</a:t>
            </a:r>
            <a:endParaRPr/>
          </a:p>
          <a:p>
            <a:pPr indent="-285750" lvl="0" marL="28575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</a:t>
            </a:r>
            <a:br>
              <a:rPr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Mayor transparencia, trazabilidad y eficiencia en la supervisión de seguridad.</a:t>
            </a:r>
            <a:endParaRPr/>
          </a:p>
        </p:txBody>
      </p:sp>
      <p:pic>
        <p:nvPicPr>
          <p:cNvPr descr="Forma&#10;&#10;El contenido generado por IA puede ser incorrecto." id="147" name="Google Shape;14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9824" y="7248272"/>
            <a:ext cx="728115" cy="72811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 txBox="1"/>
          <p:nvPr/>
        </p:nvSpPr>
        <p:spPr>
          <a:xfrm>
            <a:off x="2447939" y="1737375"/>
            <a:ext cx="176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Guardias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2447889" y="3251909"/>
            <a:ext cx="176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2447939" y="4720355"/>
            <a:ext cx="176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dministrative related warden police or man with uniform and cap vector in lineal style, (proporcionado por Getty Images)" id="151" name="Google Shape;151;p8"/>
          <p:cNvPicPr preferRelativeResize="0"/>
          <p:nvPr/>
        </p:nvPicPr>
        <p:blipFill rotWithShape="1">
          <a:blip r:embed="rId5">
            <a:alphaModFix/>
          </a:blip>
          <a:srcRect b="-13840" l="0" r="0" t="13840"/>
          <a:stretch/>
        </p:blipFill>
        <p:spPr>
          <a:xfrm>
            <a:off x="1426834" y="1493778"/>
            <a:ext cx="948649" cy="9486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ffice worker icon vector. Isolated contour symbol illustration (proporcionado por Getty Images)" id="152" name="Google Shape;152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6834" y="2962245"/>
            <a:ext cx="948649" cy="9486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ffice worker icon vector. Isolated contour symbol illustration (proporcionado por Getty Images)" id="153" name="Google Shape;153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0346" y="4430691"/>
            <a:ext cx="948649" cy="948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MX" sz="3200">
                <a:latin typeface="Arial"/>
                <a:ea typeface="Arial"/>
                <a:cs typeface="Arial"/>
                <a:sym typeface="Arial"/>
              </a:rPr>
              <a:t>Metodología</a:t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-1" y="2752716"/>
            <a:ext cx="1459800" cy="13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MX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-MX" sz="8000">
                <a:solidFill>
                  <a:schemeClr val="lt1"/>
                </a:solidFill>
              </a:rPr>
              <a:t>4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idx="1" type="body"/>
          </p:nvPr>
        </p:nvSpPr>
        <p:spPr>
          <a:xfrm>
            <a:off x="6448528" y="393363"/>
            <a:ext cx="49167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MX" sz="320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165" name="Google Shape;165;p10"/>
          <p:cNvSpPr txBox="1"/>
          <p:nvPr>
            <p:ph idx="2" type="body"/>
          </p:nvPr>
        </p:nvSpPr>
        <p:spPr>
          <a:xfrm>
            <a:off x="1278100" y="1063100"/>
            <a:ext cx="5846100" cy="48831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s-MX" sz="1800">
                <a:solidFill>
                  <a:srgbClr val="0B5394"/>
                </a:solidFill>
              </a:rPr>
              <a:t>Metodología (Scrum)</a:t>
            </a:r>
            <a:endParaRPr b="1" sz="1800">
              <a:solidFill>
                <a:srgbClr val="0B5394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MX" sz="1800"/>
              <a:t>Se utilizará Scrum para un desarrollo colaborativo, flexible e iterativo, organizado en sprints que permiten avanzar y evaluar continuamente.</a:t>
            </a:r>
            <a:endParaRPr b="1" sz="1800" u="sng"/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800" u="sng">
              <a:solidFill>
                <a:srgbClr val="0B5394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s-MX" sz="1800">
                <a:solidFill>
                  <a:srgbClr val="0B5394"/>
                </a:solidFill>
              </a:rPr>
              <a:t>Enfoque </a:t>
            </a:r>
            <a:endParaRPr b="1" sz="1800">
              <a:solidFill>
                <a:srgbClr val="0B5394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Char char="●"/>
            </a:pPr>
            <a:r>
              <a:rPr lang="es-MX" sz="1800"/>
              <a:t>Gestión mediante Product Backlog con</a:t>
            </a:r>
            <a:endParaRPr sz="1800"/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1800"/>
              <a:t>funcionalidades clave</a:t>
            </a:r>
            <a:endParaRPr sz="1800"/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1800"/>
              <a:t>(autenticación, rutas, marcaje NFC/QR,</a:t>
            </a:r>
            <a:endParaRPr sz="1800"/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1800"/>
              <a:t>reportes).</a:t>
            </a:r>
            <a:endParaRPr sz="1800"/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Char char="●"/>
            </a:pPr>
            <a:r>
              <a:rPr lang="es-MX" sz="1800"/>
              <a:t>Desarrollo incremental por sprints.</a:t>
            </a:r>
            <a:endParaRPr sz="1800"/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6" name="Google Shape;166;p10"/>
          <p:cNvSpPr/>
          <p:nvPr/>
        </p:nvSpPr>
        <p:spPr>
          <a:xfrm rot="-2700000">
            <a:off x="8839606" y="2691140"/>
            <a:ext cx="1473045" cy="1469651"/>
          </a:xfrm>
          <a:prstGeom prst="ellipse">
            <a:avLst/>
          </a:prstGeom>
          <a:solidFill>
            <a:srgbClr val="A1C2FA"/>
          </a:solidFill>
          <a:ln>
            <a:noFill/>
          </a:ln>
        </p:spPr>
        <p:txBody>
          <a:bodyPr anchorCtr="0" anchor="ctr" bIns="50850" lIns="101725" spcFirstLastPara="1" rIns="101725" wrap="square" tIns="5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" name="Google Shape;167;p10"/>
          <p:cNvGrpSpPr/>
          <p:nvPr/>
        </p:nvGrpSpPr>
        <p:grpSpPr>
          <a:xfrm>
            <a:off x="6625735" y="2181910"/>
            <a:ext cx="3051219" cy="2968346"/>
            <a:chOff x="1917433" y="1453653"/>
            <a:chExt cx="2742176" cy="2667697"/>
          </a:xfrm>
        </p:grpSpPr>
        <p:sp>
          <p:nvSpPr>
            <p:cNvPr id="168" name="Google Shape;168;p10"/>
            <p:cNvSpPr/>
            <p:nvPr/>
          </p:nvSpPr>
          <p:spPr>
            <a:xfrm rot="-2700000">
              <a:off x="2440767" y="1711670"/>
              <a:ext cx="1621029" cy="2151664"/>
            </a:xfrm>
            <a:custGeom>
              <a:rect b="b" l="l" r="r" t="t"/>
              <a:pathLst>
                <a:path extrusionOk="0" h="332" w="250">
                  <a:moveTo>
                    <a:pt x="32" y="286"/>
                  </a:moveTo>
                  <a:cubicBezTo>
                    <a:pt x="32" y="157"/>
                    <a:pt x="127" y="49"/>
                    <a:pt x="250" y="29"/>
                  </a:cubicBezTo>
                  <a:cubicBezTo>
                    <a:pt x="245" y="19"/>
                    <a:pt x="239" y="9"/>
                    <a:pt x="232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02"/>
                    <a:pt x="1" y="317"/>
                    <a:pt x="3" y="332"/>
                  </a:cubicBezTo>
                  <a:cubicBezTo>
                    <a:pt x="13" y="325"/>
                    <a:pt x="23" y="319"/>
                    <a:pt x="33" y="314"/>
                  </a:cubicBezTo>
                  <a:cubicBezTo>
                    <a:pt x="33" y="305"/>
                    <a:pt x="32" y="296"/>
                    <a:pt x="32" y="286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0850" lIns="101725" spcFirstLastPara="1" rIns="101725" wrap="square" tIns="5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/>
            </a:p>
          </p:txBody>
        </p:sp>
        <p:sp>
          <p:nvSpPr>
            <p:cNvPr id="169" name="Google Shape;169;p10"/>
            <p:cNvSpPr/>
            <p:nvPr/>
          </p:nvSpPr>
          <p:spPr>
            <a:xfrm rot="-2700000">
              <a:off x="2689034" y="1771298"/>
              <a:ext cx="1575643" cy="1769691"/>
            </a:xfrm>
            <a:custGeom>
              <a:rect b="b" l="l" r="r" t="t"/>
              <a:pathLst>
                <a:path extrusionOk="0" h="285" w="254">
                  <a:moveTo>
                    <a:pt x="200" y="153"/>
                  </a:move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0" y="41"/>
                    <a:pt x="218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267"/>
                    <a:pt x="1" y="276"/>
                    <a:pt x="1" y="285"/>
                  </a:cubicBezTo>
                  <a:cubicBezTo>
                    <a:pt x="43" y="263"/>
                    <a:pt x="90" y="251"/>
                    <a:pt x="140" y="250"/>
                  </a:cubicBezTo>
                  <a:cubicBezTo>
                    <a:pt x="142" y="211"/>
                    <a:pt x="164" y="174"/>
                    <a:pt x="200" y="153"/>
                  </a:cubicBezTo>
                  <a:close/>
                </a:path>
              </a:pathLst>
            </a:custGeom>
            <a:solidFill>
              <a:srgbClr val="0C57D3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0850" lIns="101725" spcFirstLastPara="1" rIns="101725" wrap="square" tIns="5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/>
            </a:p>
          </p:txBody>
        </p:sp>
        <p:sp>
          <p:nvSpPr>
            <p:cNvPr id="170" name="Google Shape;170;p10"/>
            <p:cNvSpPr txBox="1"/>
            <p:nvPr/>
          </p:nvSpPr>
          <p:spPr>
            <a:xfrm rot="-5400000">
              <a:off x="2686908" y="2290153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725" lIns="101725" spcFirstLastPara="1" rIns="101725" wrap="square" tIns="101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48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Pruebas</a:t>
              </a:r>
              <a:endParaRPr b="1" sz="14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1" name="Google Shape;171;p10"/>
          <p:cNvGrpSpPr/>
          <p:nvPr/>
        </p:nvGrpSpPr>
        <p:grpSpPr>
          <a:xfrm>
            <a:off x="8332592" y="3323756"/>
            <a:ext cx="2969933" cy="3055145"/>
            <a:chOff x="3451411" y="2479847"/>
            <a:chExt cx="2669123" cy="2745704"/>
          </a:xfrm>
        </p:grpSpPr>
        <p:sp>
          <p:nvSpPr>
            <p:cNvPr id="172" name="Google Shape;172;p10"/>
            <p:cNvSpPr/>
            <p:nvPr/>
          </p:nvSpPr>
          <p:spPr>
            <a:xfrm rot="-2700000">
              <a:off x="3709147" y="3080460"/>
              <a:ext cx="2153650" cy="1621060"/>
            </a:xfrm>
            <a:custGeom>
              <a:rect b="b" l="l" r="r" t="t"/>
              <a:pathLst>
                <a:path extrusionOk="0" h="250" w="333">
                  <a:moveTo>
                    <a:pt x="287" y="218"/>
                  </a:moveTo>
                  <a:cubicBezTo>
                    <a:pt x="157" y="218"/>
                    <a:pt x="50" y="124"/>
                    <a:pt x="30" y="0"/>
                  </a:cubicBezTo>
                  <a:cubicBezTo>
                    <a:pt x="19" y="5"/>
                    <a:pt x="10" y="11"/>
                    <a:pt x="0" y="18"/>
                  </a:cubicBezTo>
                  <a:cubicBezTo>
                    <a:pt x="28" y="151"/>
                    <a:pt x="146" y="250"/>
                    <a:pt x="287" y="250"/>
                  </a:cubicBezTo>
                  <a:cubicBezTo>
                    <a:pt x="302" y="250"/>
                    <a:pt x="318" y="249"/>
                    <a:pt x="333" y="247"/>
                  </a:cubicBezTo>
                  <a:cubicBezTo>
                    <a:pt x="326" y="237"/>
                    <a:pt x="320" y="227"/>
                    <a:pt x="315" y="217"/>
                  </a:cubicBezTo>
                  <a:cubicBezTo>
                    <a:pt x="306" y="218"/>
                    <a:pt x="296" y="218"/>
                    <a:pt x="287" y="218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0850" lIns="101725" spcFirstLastPara="1" rIns="101725" wrap="square" tIns="5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/>
            </a:p>
          </p:txBody>
        </p:sp>
        <p:sp>
          <p:nvSpPr>
            <p:cNvPr id="173" name="Google Shape;173;p10"/>
            <p:cNvSpPr/>
            <p:nvPr/>
          </p:nvSpPr>
          <p:spPr>
            <a:xfrm rot="-2700000">
              <a:off x="3773733" y="2873178"/>
              <a:ext cx="1764275" cy="1573502"/>
            </a:xfrm>
            <a:custGeom>
              <a:rect b="b" l="l" r="r" t="t"/>
              <a:pathLst>
                <a:path extrusionOk="0" h="254" w="285">
                  <a:moveTo>
                    <a:pt x="152" y="54"/>
                  </a:moveTo>
                  <a:cubicBezTo>
                    <a:pt x="142" y="37"/>
                    <a:pt x="137" y="19"/>
                    <a:pt x="136" y="0"/>
                  </a:cubicBezTo>
                  <a:cubicBezTo>
                    <a:pt x="86" y="1"/>
                    <a:pt x="40" y="14"/>
                    <a:pt x="0" y="36"/>
                  </a:cubicBezTo>
                  <a:cubicBezTo>
                    <a:pt x="20" y="160"/>
                    <a:pt x="127" y="254"/>
                    <a:pt x="257" y="254"/>
                  </a:cubicBezTo>
                  <a:cubicBezTo>
                    <a:pt x="266" y="254"/>
                    <a:pt x="276" y="254"/>
                    <a:pt x="285" y="253"/>
                  </a:cubicBezTo>
                  <a:cubicBezTo>
                    <a:pt x="263" y="211"/>
                    <a:pt x="251" y="164"/>
                    <a:pt x="250" y="115"/>
                  </a:cubicBezTo>
                  <a:cubicBezTo>
                    <a:pt x="210" y="112"/>
                    <a:pt x="173" y="91"/>
                    <a:pt x="152" y="54"/>
                  </a:cubicBezTo>
                  <a:close/>
                </a:path>
              </a:pathLst>
            </a:custGeom>
            <a:solidFill>
              <a:srgbClr val="0D5CDF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0850" lIns="101725" spcFirstLastPara="1" rIns="101725" wrap="square" tIns="5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/>
            </a:p>
          </p:txBody>
        </p:sp>
        <p:sp>
          <p:nvSpPr>
            <p:cNvPr id="174" name="Google Shape;174;p10"/>
            <p:cNvSpPr txBox="1"/>
            <p:nvPr/>
          </p:nvSpPr>
          <p:spPr>
            <a:xfrm>
              <a:off x="3823936" y="3427182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725" lIns="101725" spcFirstLastPara="1" rIns="101725" wrap="square" tIns="101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48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Desarrollo</a:t>
              </a:r>
              <a:endParaRPr b="1" sz="14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" name="Google Shape;175;p10"/>
          <p:cNvGrpSpPr/>
          <p:nvPr/>
        </p:nvGrpSpPr>
        <p:grpSpPr>
          <a:xfrm>
            <a:off x="9479027" y="1701669"/>
            <a:ext cx="3054148" cy="2965305"/>
            <a:chOff x="4481729" y="1022053"/>
            <a:chExt cx="2744808" cy="2664963"/>
          </a:xfrm>
        </p:grpSpPr>
        <p:sp>
          <p:nvSpPr>
            <p:cNvPr id="176" name="Google Shape;176;p10"/>
            <p:cNvSpPr/>
            <p:nvPr/>
          </p:nvSpPr>
          <p:spPr>
            <a:xfrm rot="-2700000">
              <a:off x="5085474" y="1278703"/>
              <a:ext cx="1617163" cy="2151664"/>
            </a:xfrm>
            <a:custGeom>
              <a:rect b="b" l="l" r="r" t="t"/>
              <a:pathLst>
                <a:path extrusionOk="0" h="332" w="250">
                  <a:moveTo>
                    <a:pt x="218" y="45"/>
                  </a:moveTo>
                  <a:cubicBezTo>
                    <a:pt x="218" y="175"/>
                    <a:pt x="123" y="282"/>
                    <a:pt x="0" y="303"/>
                  </a:cubicBezTo>
                  <a:cubicBezTo>
                    <a:pt x="5" y="313"/>
                    <a:pt x="11" y="323"/>
                    <a:pt x="18" y="332"/>
                  </a:cubicBezTo>
                  <a:cubicBezTo>
                    <a:pt x="150" y="304"/>
                    <a:pt x="250" y="186"/>
                    <a:pt x="250" y="45"/>
                  </a:cubicBezTo>
                  <a:cubicBezTo>
                    <a:pt x="250" y="30"/>
                    <a:pt x="248" y="15"/>
                    <a:pt x="246" y="0"/>
                  </a:cubicBezTo>
                  <a:cubicBezTo>
                    <a:pt x="237" y="6"/>
                    <a:pt x="226" y="12"/>
                    <a:pt x="216" y="18"/>
                  </a:cubicBezTo>
                  <a:cubicBezTo>
                    <a:pt x="217" y="27"/>
                    <a:pt x="218" y="36"/>
                    <a:pt x="218" y="45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0850" lIns="101725" spcFirstLastPara="1" rIns="101725" wrap="square" tIns="5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/>
            </a:p>
          </p:txBody>
        </p:sp>
        <p:sp>
          <p:nvSpPr>
            <p:cNvPr id="177" name="Google Shape;177;p10"/>
            <p:cNvSpPr/>
            <p:nvPr/>
          </p:nvSpPr>
          <p:spPr>
            <a:xfrm rot="-2700000">
              <a:off x="4874704" y="1604373"/>
              <a:ext cx="1579339" cy="1765685"/>
            </a:xfrm>
            <a:custGeom>
              <a:rect b="b" l="l" r="r" t="t"/>
              <a:pathLst>
                <a:path extrusionOk="0" h="285" w="254">
                  <a:moveTo>
                    <a:pt x="53" y="133"/>
                  </a:moveTo>
                  <a:cubicBezTo>
                    <a:pt x="37" y="142"/>
                    <a:pt x="18" y="148"/>
                    <a:pt x="0" y="149"/>
                  </a:cubicBezTo>
                  <a:cubicBezTo>
                    <a:pt x="1" y="198"/>
                    <a:pt x="14" y="244"/>
                    <a:pt x="36" y="285"/>
                  </a:cubicBezTo>
                  <a:cubicBezTo>
                    <a:pt x="159" y="264"/>
                    <a:pt x="254" y="157"/>
                    <a:pt x="254" y="27"/>
                  </a:cubicBezTo>
                  <a:cubicBezTo>
                    <a:pt x="254" y="18"/>
                    <a:pt x="253" y="9"/>
                    <a:pt x="252" y="0"/>
                  </a:cubicBezTo>
                  <a:cubicBezTo>
                    <a:pt x="211" y="21"/>
                    <a:pt x="164" y="34"/>
                    <a:pt x="114" y="34"/>
                  </a:cubicBezTo>
                  <a:cubicBezTo>
                    <a:pt x="112" y="74"/>
                    <a:pt x="90" y="111"/>
                    <a:pt x="53" y="133"/>
                  </a:cubicBezTo>
                  <a:close/>
                </a:path>
              </a:pathLst>
            </a:custGeom>
            <a:solidFill>
              <a:srgbClr val="0E63F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0850" lIns="101725" spcFirstLastPara="1" rIns="101725" wrap="square" tIns="5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/>
            </a:p>
          </p:txBody>
        </p:sp>
        <p:sp>
          <p:nvSpPr>
            <p:cNvPr id="178" name="Google Shape;178;p10"/>
            <p:cNvSpPr txBox="1"/>
            <p:nvPr/>
          </p:nvSpPr>
          <p:spPr>
            <a:xfrm rot="5400000">
              <a:off x="4960966" y="2290154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725" lIns="101725" spcFirstLastPara="1" rIns="101725" wrap="square" tIns="101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48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Diseño</a:t>
              </a:r>
              <a:r>
                <a:rPr b="1" lang="es-MX" sz="148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b="1" sz="14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9" name="Google Shape;179;p10"/>
          <p:cNvGrpSpPr/>
          <p:nvPr/>
        </p:nvGrpSpPr>
        <p:grpSpPr>
          <a:xfrm>
            <a:off x="7859428" y="479101"/>
            <a:ext cx="2954247" cy="3048890"/>
            <a:chOff x="3026172" y="-76686"/>
            <a:chExt cx="2655026" cy="2740082"/>
          </a:xfrm>
        </p:grpSpPr>
        <p:sp>
          <p:nvSpPr>
            <p:cNvPr id="180" name="Google Shape;180;p10"/>
            <p:cNvSpPr/>
            <p:nvPr/>
          </p:nvSpPr>
          <p:spPr>
            <a:xfrm rot="-2700000">
              <a:off x="3282650" y="444474"/>
              <a:ext cx="2142068" cy="1612705"/>
            </a:xfrm>
            <a:custGeom>
              <a:rect b="b" l="l" r="r" t="t"/>
              <a:pathLst>
                <a:path extrusionOk="0" h="249" w="331">
                  <a:moveTo>
                    <a:pt x="45" y="32"/>
                  </a:moveTo>
                  <a:cubicBezTo>
                    <a:pt x="174" y="32"/>
                    <a:pt x="281" y="126"/>
                    <a:pt x="302" y="249"/>
                  </a:cubicBezTo>
                  <a:cubicBezTo>
                    <a:pt x="312" y="244"/>
                    <a:pt x="322" y="238"/>
                    <a:pt x="331" y="231"/>
                  </a:cubicBezTo>
                  <a:cubicBezTo>
                    <a:pt x="303" y="99"/>
                    <a:pt x="186" y="0"/>
                    <a:pt x="45" y="0"/>
                  </a:cubicBezTo>
                  <a:cubicBezTo>
                    <a:pt x="29" y="0"/>
                    <a:pt x="14" y="1"/>
                    <a:pt x="0" y="3"/>
                  </a:cubicBezTo>
                  <a:cubicBezTo>
                    <a:pt x="6" y="13"/>
                    <a:pt x="12" y="23"/>
                    <a:pt x="17" y="33"/>
                  </a:cubicBezTo>
                  <a:cubicBezTo>
                    <a:pt x="26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0850" lIns="101725" spcFirstLastPara="1" rIns="101725" wrap="square" tIns="5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0"/>
            <p:cNvSpPr/>
            <p:nvPr/>
          </p:nvSpPr>
          <p:spPr>
            <a:xfrm rot="-2700000">
              <a:off x="3599956" y="695260"/>
              <a:ext cx="1767975" cy="1573496"/>
            </a:xfrm>
            <a:custGeom>
              <a:rect b="b" l="l" r="r" t="t"/>
              <a:pathLst>
                <a:path extrusionOk="0" h="253" w="285">
                  <a:moveTo>
                    <a:pt x="28" y="0"/>
                  </a:moveTo>
                  <a:cubicBezTo>
                    <a:pt x="19" y="0"/>
                    <a:pt x="9" y="0"/>
                    <a:pt x="0" y="1"/>
                  </a:cubicBezTo>
                  <a:cubicBezTo>
                    <a:pt x="22" y="43"/>
                    <a:pt x="34" y="90"/>
                    <a:pt x="35" y="140"/>
                  </a:cubicBezTo>
                  <a:cubicBezTo>
                    <a:pt x="74" y="142"/>
                    <a:pt x="112" y="163"/>
                    <a:pt x="133" y="200"/>
                  </a:cubicBezTo>
                  <a:cubicBezTo>
                    <a:pt x="143" y="217"/>
                    <a:pt x="148" y="235"/>
                    <a:pt x="149" y="253"/>
                  </a:cubicBezTo>
                  <a:cubicBezTo>
                    <a:pt x="198" y="252"/>
                    <a:pt x="244" y="239"/>
                    <a:pt x="285" y="217"/>
                  </a:cubicBezTo>
                  <a:cubicBezTo>
                    <a:pt x="264" y="94"/>
                    <a:pt x="157" y="0"/>
                    <a:pt x="28" y="0"/>
                  </a:cubicBezTo>
                  <a:close/>
                </a:path>
              </a:pathLst>
            </a:custGeom>
            <a:solidFill>
              <a:srgbClr val="0942A1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50850" lIns="101725" spcFirstLastPara="1" rIns="101725" wrap="square" tIns="5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0"/>
            <p:cNvSpPr txBox="1"/>
            <p:nvPr/>
          </p:nvSpPr>
          <p:spPr>
            <a:xfrm>
              <a:off x="3823913" y="1153125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725" lIns="101725" spcFirstLastPara="1" rIns="101725" wrap="square" tIns="101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48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Levantamiento</a:t>
              </a:r>
              <a:endParaRPr b="1" sz="14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MX" sz="3200">
                <a:latin typeface="Arial"/>
                <a:ea typeface="Arial"/>
                <a:cs typeface="Arial"/>
                <a:sym typeface="Arial"/>
              </a:rPr>
              <a:t>Descripción técnica de la solución</a:t>
            </a: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-1" y="2752716"/>
            <a:ext cx="1459800" cy="13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MX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-MX" sz="8000">
                <a:solidFill>
                  <a:schemeClr val="lt1"/>
                </a:solidFill>
              </a:rPr>
              <a:t>5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idx="1" type="body"/>
          </p:nvPr>
        </p:nvSpPr>
        <p:spPr>
          <a:xfrm>
            <a:off x="879944" y="274955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MX"/>
              <a:t>Diagrama</a:t>
            </a:r>
            <a:endParaRPr/>
          </a:p>
        </p:txBody>
      </p:sp>
      <p:pic>
        <p:nvPicPr>
          <p:cNvPr id="194" name="Google Shape;194;p12"/>
          <p:cNvPicPr preferRelativeResize="0"/>
          <p:nvPr/>
        </p:nvPicPr>
        <p:blipFill rotWithShape="1">
          <a:blip r:embed="rId4">
            <a:alphaModFix/>
          </a:blip>
          <a:srcRect b="4772" l="0" r="0" t="2333"/>
          <a:stretch/>
        </p:blipFill>
        <p:spPr>
          <a:xfrm>
            <a:off x="3132157" y="232134"/>
            <a:ext cx="6564419" cy="616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>
            <p:ph type="title"/>
          </p:nvPr>
        </p:nvSpPr>
        <p:spPr>
          <a:xfrm>
            <a:off x="8257400" y="2752725"/>
            <a:ext cx="32355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s-MX">
                <a:latin typeface="Arial"/>
                <a:ea typeface="Arial"/>
                <a:cs typeface="Arial"/>
                <a:sym typeface="Arial"/>
              </a:rPr>
              <a:t>Documentación</a:t>
            </a:r>
            <a:endParaRPr/>
          </a:p>
        </p:txBody>
      </p:sp>
      <p:sp>
        <p:nvSpPr>
          <p:cNvPr id="200" name="Google Shape;200;p13"/>
          <p:cNvSpPr txBox="1"/>
          <p:nvPr/>
        </p:nvSpPr>
        <p:spPr>
          <a:xfrm>
            <a:off x="-1" y="2752716"/>
            <a:ext cx="1459800" cy="13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MX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-MX" sz="8000">
                <a:solidFill>
                  <a:schemeClr val="lt1"/>
                </a:solidFill>
              </a:rPr>
              <a:t>6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67f21d644_0_730"/>
          <p:cNvSpPr txBox="1"/>
          <p:nvPr>
            <p:ph idx="1" type="body"/>
          </p:nvPr>
        </p:nvSpPr>
        <p:spPr>
          <a:xfrm>
            <a:off x="7144676" y="763948"/>
            <a:ext cx="42183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200" lIns="78450" spcFirstLastPara="1" rIns="78450" wrap="square" tIns="392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45"/>
              <a:buNone/>
            </a:pPr>
            <a:r>
              <a:rPr lang="es-MX" sz="3245">
                <a:solidFill>
                  <a:srgbClr val="0942A1"/>
                </a:solidFill>
                <a:latin typeface="Arial"/>
                <a:ea typeface="Arial"/>
                <a:cs typeface="Arial"/>
                <a:sym typeface="Arial"/>
              </a:rPr>
              <a:t>Documentación</a:t>
            </a:r>
            <a:endParaRPr sz="3245">
              <a:solidFill>
                <a:srgbClr val="0942A1"/>
              </a:solidFill>
            </a:endParaRPr>
          </a:p>
        </p:txBody>
      </p:sp>
      <p:sp>
        <p:nvSpPr>
          <p:cNvPr id="206" name="Google Shape;206;g3967f21d644_0_730"/>
          <p:cNvSpPr/>
          <p:nvPr/>
        </p:nvSpPr>
        <p:spPr>
          <a:xfrm flipH="1">
            <a:off x="3021689" y="3810160"/>
            <a:ext cx="2109900" cy="735000"/>
          </a:xfrm>
          <a:prstGeom prst="rect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967f21d644_0_730"/>
          <p:cNvSpPr/>
          <p:nvPr/>
        </p:nvSpPr>
        <p:spPr>
          <a:xfrm rot="-5400000">
            <a:off x="4415678" y="3366437"/>
            <a:ext cx="735935" cy="1623365"/>
          </a:xfrm>
          <a:prstGeom prst="flowChartOffpageConnector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967f21d644_0_730"/>
          <p:cNvSpPr/>
          <p:nvPr/>
        </p:nvSpPr>
        <p:spPr>
          <a:xfrm>
            <a:off x="3089956" y="3898670"/>
            <a:ext cx="22200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15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Arquitectura técnica y stack tecnológico</a:t>
            </a:r>
            <a:endParaRPr sz="111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g3967f21d644_0_730"/>
          <p:cNvSpPr/>
          <p:nvPr/>
        </p:nvSpPr>
        <p:spPr>
          <a:xfrm>
            <a:off x="2232460" y="3810152"/>
            <a:ext cx="789300" cy="734700"/>
          </a:xfrm>
          <a:prstGeom prst="rect">
            <a:avLst/>
          </a:prstGeom>
          <a:solidFill>
            <a:srgbClr val="0D5CDF"/>
          </a:solidFill>
          <a:ln>
            <a:noFill/>
          </a:ln>
          <a:effectLst>
            <a:outerShdw blurRad="81720" rotWithShape="0" algn="bl" dir="2700000" dist="32688">
              <a:srgbClr val="000000">
                <a:alpha val="17000"/>
              </a:srgbClr>
            </a:outerShdw>
          </a:effectLst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967f21d644_0_730"/>
          <p:cNvSpPr/>
          <p:nvPr/>
        </p:nvSpPr>
        <p:spPr>
          <a:xfrm>
            <a:off x="2232460" y="3810160"/>
            <a:ext cx="789300" cy="735000"/>
          </a:xfrm>
          <a:prstGeom prst="rect">
            <a:avLst/>
          </a:prstGeom>
          <a:solidFill>
            <a:srgbClr val="0E63F0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2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05</a:t>
            </a:r>
            <a:endParaRPr sz="3002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211" name="Google Shape;211;g3967f21d644_0_730"/>
          <p:cNvSpPr/>
          <p:nvPr/>
        </p:nvSpPr>
        <p:spPr>
          <a:xfrm flipH="1">
            <a:off x="3021689" y="3061035"/>
            <a:ext cx="2109900" cy="735000"/>
          </a:xfrm>
          <a:prstGeom prst="rect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967f21d644_0_730"/>
          <p:cNvSpPr/>
          <p:nvPr/>
        </p:nvSpPr>
        <p:spPr>
          <a:xfrm rot="-5400000">
            <a:off x="4415678" y="2617312"/>
            <a:ext cx="735935" cy="1623365"/>
          </a:xfrm>
          <a:prstGeom prst="flowChartOffpageConnector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967f21d644_0_730"/>
          <p:cNvSpPr/>
          <p:nvPr/>
        </p:nvSpPr>
        <p:spPr>
          <a:xfrm>
            <a:off x="3089956" y="3149545"/>
            <a:ext cx="22200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15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Diagramas del sistema y modelo de datos</a:t>
            </a:r>
            <a:endParaRPr sz="1115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4" name="Google Shape;214;g3967f21d644_0_730"/>
          <p:cNvSpPr/>
          <p:nvPr/>
        </p:nvSpPr>
        <p:spPr>
          <a:xfrm>
            <a:off x="2232460" y="3061027"/>
            <a:ext cx="789300" cy="734700"/>
          </a:xfrm>
          <a:prstGeom prst="rect">
            <a:avLst/>
          </a:prstGeom>
          <a:solidFill>
            <a:srgbClr val="0D5CDF"/>
          </a:solidFill>
          <a:ln>
            <a:noFill/>
          </a:ln>
          <a:effectLst>
            <a:outerShdw blurRad="81720" rotWithShape="0" algn="bl" dir="2700000" dist="32688">
              <a:srgbClr val="000000">
                <a:alpha val="17000"/>
              </a:srgbClr>
            </a:outerShdw>
          </a:effectLst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967f21d644_0_730"/>
          <p:cNvSpPr/>
          <p:nvPr/>
        </p:nvSpPr>
        <p:spPr>
          <a:xfrm>
            <a:off x="2232460" y="3061035"/>
            <a:ext cx="789300" cy="735000"/>
          </a:xfrm>
          <a:prstGeom prst="rect">
            <a:avLst/>
          </a:prstGeom>
          <a:solidFill>
            <a:srgbClr val="0E63F0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2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04</a:t>
            </a:r>
            <a:endParaRPr sz="3002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216" name="Google Shape;216;g3967f21d644_0_730"/>
          <p:cNvSpPr/>
          <p:nvPr/>
        </p:nvSpPr>
        <p:spPr>
          <a:xfrm flipH="1">
            <a:off x="3021689" y="2311880"/>
            <a:ext cx="2109900" cy="735000"/>
          </a:xfrm>
          <a:prstGeom prst="rect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967f21d644_0_730"/>
          <p:cNvSpPr/>
          <p:nvPr/>
        </p:nvSpPr>
        <p:spPr>
          <a:xfrm rot="-5400000">
            <a:off x="4415678" y="1868157"/>
            <a:ext cx="735935" cy="1623365"/>
          </a:xfrm>
          <a:prstGeom prst="flowChartOffpageConnector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967f21d644_0_730"/>
          <p:cNvSpPr/>
          <p:nvPr/>
        </p:nvSpPr>
        <p:spPr>
          <a:xfrm>
            <a:off x="3089956" y="2400390"/>
            <a:ext cx="22200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15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Requerimientos e historias de usuarios</a:t>
            </a:r>
            <a:endParaRPr sz="1115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9" name="Google Shape;219;g3967f21d644_0_730"/>
          <p:cNvSpPr/>
          <p:nvPr/>
        </p:nvSpPr>
        <p:spPr>
          <a:xfrm>
            <a:off x="2232460" y="2311872"/>
            <a:ext cx="789300" cy="734700"/>
          </a:xfrm>
          <a:prstGeom prst="rect">
            <a:avLst/>
          </a:prstGeom>
          <a:solidFill>
            <a:srgbClr val="0D5CDF"/>
          </a:solidFill>
          <a:ln>
            <a:noFill/>
          </a:ln>
          <a:effectLst>
            <a:outerShdw blurRad="81720" rotWithShape="0" algn="bl" dir="2700000" dist="32688">
              <a:srgbClr val="000000">
                <a:alpha val="17000"/>
              </a:srgbClr>
            </a:outerShdw>
          </a:effectLst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967f21d644_0_730"/>
          <p:cNvSpPr/>
          <p:nvPr/>
        </p:nvSpPr>
        <p:spPr>
          <a:xfrm>
            <a:off x="2232460" y="2311880"/>
            <a:ext cx="789300" cy="735000"/>
          </a:xfrm>
          <a:prstGeom prst="rect">
            <a:avLst/>
          </a:prstGeom>
          <a:solidFill>
            <a:srgbClr val="0E63F0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2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03</a:t>
            </a:r>
            <a:endParaRPr sz="3002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221" name="Google Shape;221;g3967f21d644_0_730"/>
          <p:cNvSpPr/>
          <p:nvPr/>
        </p:nvSpPr>
        <p:spPr>
          <a:xfrm flipH="1">
            <a:off x="3021689" y="1562764"/>
            <a:ext cx="2109900" cy="735000"/>
          </a:xfrm>
          <a:prstGeom prst="rect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967f21d644_0_730"/>
          <p:cNvSpPr/>
          <p:nvPr/>
        </p:nvSpPr>
        <p:spPr>
          <a:xfrm rot="-5400000">
            <a:off x="4415678" y="1119041"/>
            <a:ext cx="735935" cy="1623365"/>
          </a:xfrm>
          <a:prstGeom prst="flowChartOffpageConnector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967f21d644_0_730"/>
          <p:cNvSpPr/>
          <p:nvPr/>
        </p:nvSpPr>
        <p:spPr>
          <a:xfrm>
            <a:off x="3089956" y="1651274"/>
            <a:ext cx="22200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15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Metodología Scrum y organización del equipo</a:t>
            </a:r>
            <a:endParaRPr sz="111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g3967f21d644_0_730"/>
          <p:cNvSpPr/>
          <p:nvPr/>
        </p:nvSpPr>
        <p:spPr>
          <a:xfrm>
            <a:off x="2232460" y="1562756"/>
            <a:ext cx="789300" cy="734700"/>
          </a:xfrm>
          <a:prstGeom prst="rect">
            <a:avLst/>
          </a:prstGeom>
          <a:solidFill>
            <a:srgbClr val="0D5CDF"/>
          </a:solidFill>
          <a:ln>
            <a:noFill/>
          </a:ln>
          <a:effectLst>
            <a:outerShdw blurRad="81720" rotWithShape="0" algn="bl" dir="2700000" dist="32688">
              <a:srgbClr val="000000">
                <a:alpha val="17000"/>
              </a:srgbClr>
            </a:outerShdw>
          </a:effectLst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967f21d644_0_730"/>
          <p:cNvSpPr/>
          <p:nvPr/>
        </p:nvSpPr>
        <p:spPr>
          <a:xfrm>
            <a:off x="2232460" y="1562764"/>
            <a:ext cx="789300" cy="735000"/>
          </a:xfrm>
          <a:prstGeom prst="rect">
            <a:avLst/>
          </a:prstGeom>
          <a:solidFill>
            <a:srgbClr val="0E63F0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2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02</a:t>
            </a:r>
            <a:endParaRPr sz="3002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226" name="Google Shape;226;g3967f21d644_0_730"/>
          <p:cNvSpPr/>
          <p:nvPr/>
        </p:nvSpPr>
        <p:spPr>
          <a:xfrm flipH="1">
            <a:off x="3021689" y="813630"/>
            <a:ext cx="2109900" cy="735000"/>
          </a:xfrm>
          <a:prstGeom prst="rect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967f21d644_0_730"/>
          <p:cNvSpPr/>
          <p:nvPr/>
        </p:nvSpPr>
        <p:spPr>
          <a:xfrm rot="-5400000">
            <a:off x="4415678" y="369906"/>
            <a:ext cx="735935" cy="1623365"/>
          </a:xfrm>
          <a:prstGeom prst="flowChartOffpageConnector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967f21d644_0_730"/>
          <p:cNvSpPr/>
          <p:nvPr/>
        </p:nvSpPr>
        <p:spPr>
          <a:xfrm>
            <a:off x="3089956" y="902140"/>
            <a:ext cx="22200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15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Definición del producto</a:t>
            </a:r>
            <a:endParaRPr sz="1115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15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(visión, objetivos y alcance del sistema)</a:t>
            </a:r>
            <a:endParaRPr sz="101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g3967f21d644_0_730"/>
          <p:cNvSpPr/>
          <p:nvPr/>
        </p:nvSpPr>
        <p:spPr>
          <a:xfrm>
            <a:off x="2232460" y="813622"/>
            <a:ext cx="789300" cy="734700"/>
          </a:xfrm>
          <a:prstGeom prst="rect">
            <a:avLst/>
          </a:prstGeom>
          <a:solidFill>
            <a:srgbClr val="0D5CDF"/>
          </a:solidFill>
          <a:ln>
            <a:noFill/>
          </a:ln>
          <a:effectLst>
            <a:outerShdw blurRad="81720" rotWithShape="0" algn="bl" dir="2700000" dist="32688">
              <a:srgbClr val="000000">
                <a:alpha val="17000"/>
              </a:srgbClr>
            </a:outerShdw>
          </a:effectLst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967f21d644_0_730"/>
          <p:cNvSpPr/>
          <p:nvPr/>
        </p:nvSpPr>
        <p:spPr>
          <a:xfrm>
            <a:off x="2232460" y="813630"/>
            <a:ext cx="789300" cy="735000"/>
          </a:xfrm>
          <a:prstGeom prst="rect">
            <a:avLst/>
          </a:prstGeom>
          <a:solidFill>
            <a:srgbClr val="0E63F0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2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01</a:t>
            </a:r>
            <a:endParaRPr sz="3002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231" name="Google Shape;231;g3967f21d644_0_730"/>
          <p:cNvSpPr/>
          <p:nvPr/>
        </p:nvSpPr>
        <p:spPr>
          <a:xfrm flipH="1">
            <a:off x="3021828" y="4559301"/>
            <a:ext cx="2109900" cy="735000"/>
          </a:xfrm>
          <a:prstGeom prst="rect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967f21d644_0_730"/>
          <p:cNvSpPr/>
          <p:nvPr/>
        </p:nvSpPr>
        <p:spPr>
          <a:xfrm rot="-5400000">
            <a:off x="4415818" y="4115578"/>
            <a:ext cx="735935" cy="1623365"/>
          </a:xfrm>
          <a:prstGeom prst="flowChartOffpageConnector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967f21d644_0_730"/>
          <p:cNvSpPr/>
          <p:nvPr/>
        </p:nvSpPr>
        <p:spPr>
          <a:xfrm>
            <a:off x="3090096" y="4647812"/>
            <a:ext cx="22200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15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Planificación mediante roadmap y sprints</a:t>
            </a:r>
            <a:endParaRPr sz="111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g3967f21d644_0_730"/>
          <p:cNvSpPr/>
          <p:nvPr/>
        </p:nvSpPr>
        <p:spPr>
          <a:xfrm>
            <a:off x="2232600" y="4559293"/>
            <a:ext cx="789300" cy="734700"/>
          </a:xfrm>
          <a:prstGeom prst="rect">
            <a:avLst/>
          </a:prstGeom>
          <a:solidFill>
            <a:srgbClr val="0D5CDF"/>
          </a:solidFill>
          <a:ln>
            <a:noFill/>
          </a:ln>
          <a:effectLst>
            <a:outerShdw blurRad="81720" rotWithShape="0" algn="bl" dir="2700000" dist="32688">
              <a:srgbClr val="000000">
                <a:alpha val="17000"/>
              </a:srgbClr>
            </a:outerShdw>
          </a:effectLst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967f21d644_0_730"/>
          <p:cNvSpPr/>
          <p:nvPr/>
        </p:nvSpPr>
        <p:spPr>
          <a:xfrm>
            <a:off x="2232600" y="4559301"/>
            <a:ext cx="789300" cy="735000"/>
          </a:xfrm>
          <a:prstGeom prst="rect">
            <a:avLst/>
          </a:prstGeom>
          <a:solidFill>
            <a:srgbClr val="0E63F0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2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06</a:t>
            </a:r>
            <a:endParaRPr sz="3002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236" name="Google Shape;236;g3967f21d644_0_730"/>
          <p:cNvSpPr/>
          <p:nvPr/>
        </p:nvSpPr>
        <p:spPr>
          <a:xfrm flipH="1">
            <a:off x="3021678" y="5308451"/>
            <a:ext cx="2109900" cy="735000"/>
          </a:xfrm>
          <a:prstGeom prst="rect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967f21d644_0_730"/>
          <p:cNvSpPr/>
          <p:nvPr/>
        </p:nvSpPr>
        <p:spPr>
          <a:xfrm rot="-5400000">
            <a:off x="4415668" y="4864728"/>
            <a:ext cx="735935" cy="1623365"/>
          </a:xfrm>
          <a:prstGeom prst="flowChartOffpageConnector">
            <a:avLst/>
          </a:prstGeom>
          <a:solidFill>
            <a:srgbClr val="0C57D3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967f21d644_0_730"/>
          <p:cNvSpPr/>
          <p:nvPr/>
        </p:nvSpPr>
        <p:spPr>
          <a:xfrm>
            <a:off x="3089946" y="5396962"/>
            <a:ext cx="22200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15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Pruebas y validación del sistema</a:t>
            </a:r>
            <a:endParaRPr sz="111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g3967f21d644_0_730"/>
          <p:cNvSpPr/>
          <p:nvPr/>
        </p:nvSpPr>
        <p:spPr>
          <a:xfrm>
            <a:off x="2232450" y="5308443"/>
            <a:ext cx="789300" cy="734700"/>
          </a:xfrm>
          <a:prstGeom prst="rect">
            <a:avLst/>
          </a:prstGeom>
          <a:solidFill>
            <a:srgbClr val="0D5CDF"/>
          </a:solidFill>
          <a:ln>
            <a:noFill/>
          </a:ln>
          <a:effectLst>
            <a:outerShdw blurRad="81720" rotWithShape="0" algn="bl" dir="2700000" dist="32688">
              <a:srgbClr val="000000">
                <a:alpha val="17000"/>
              </a:srgbClr>
            </a:outerShdw>
          </a:effectLst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967f21d644_0_730"/>
          <p:cNvSpPr/>
          <p:nvPr/>
        </p:nvSpPr>
        <p:spPr>
          <a:xfrm>
            <a:off x="2232450" y="5308451"/>
            <a:ext cx="789300" cy="735000"/>
          </a:xfrm>
          <a:prstGeom prst="rect">
            <a:avLst/>
          </a:prstGeom>
          <a:solidFill>
            <a:srgbClr val="0E63F0"/>
          </a:solidFill>
          <a:ln>
            <a:noFill/>
          </a:ln>
        </p:spPr>
        <p:txBody>
          <a:bodyPr anchorCtr="0" anchor="ctr" bIns="104575" lIns="104575" spcFirstLastPara="1" rIns="104575" wrap="square" tIns="10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2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07</a:t>
            </a:r>
            <a:endParaRPr sz="3002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241" name="Google Shape;241;g3967f21d644_0_730"/>
          <p:cNvSpPr txBox="1"/>
          <p:nvPr/>
        </p:nvSpPr>
        <p:spPr>
          <a:xfrm>
            <a:off x="6794576" y="1651263"/>
            <a:ext cx="45684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</a:rPr>
              <a:t>Durante el desarrollo del sistema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</a:rPr>
              <a:t>SIS Control</a:t>
            </a:r>
            <a:r>
              <a:rPr lang="es-MX" sz="1800">
                <a:solidFill>
                  <a:schemeClr val="dk1"/>
                </a:solidFill>
              </a:rPr>
              <a:t> se generará la siguiente documentación para respaldar el proceso de ingeniería y asegurar la calidad del software.</a:t>
            </a:r>
            <a:endParaRPr sz="1800"/>
          </a:p>
        </p:txBody>
      </p:sp>
      <p:pic>
        <p:nvPicPr>
          <p:cNvPr id="242" name="Google Shape;242;g3967f21d644_0_730" title="documentac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53076" y="3934478"/>
            <a:ext cx="2109900" cy="21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2024-03-07T18:55:37Z</dcterms:created>
  <dc:creator>Daniela Osorio C.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